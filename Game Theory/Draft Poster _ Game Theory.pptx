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493" autoAdjust="0"/>
    <p:restoredTop sz="94610"/>
  </p:normalViewPr>
  <p:slideViewPr>
    <p:cSldViewPr snapToGrid="0" snapToObjects="1">
      <p:cViewPr>
        <p:scale>
          <a:sx n="300" d="100"/>
          <a:sy n="300" d="100"/>
        </p:scale>
        <p:origin x="763" y="-6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822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C5E8DF"/>
              </a:gs>
              <a:gs pos="50000">
                <a:srgbClr val="D7EEE7"/>
              </a:gs>
              <a:gs pos="100000">
                <a:srgbClr val="BFE6DB"/>
              </a:gs>
            </a:gsLst>
            <a:lin ang="5400000" scaled="0"/>
          </a:gradFill>
          <a:ln/>
        </p:spPr>
      </p:sp>
      <p:sp>
        <p:nvSpPr>
          <p:cNvPr id="900" name="DecoBorder"/>
          <p:cNvSpPr/>
          <p:nvPr/>
        </p:nvSpPr>
        <p:spPr>
          <a:xfrm>
            <a:off x="57150" y="57150"/>
            <a:ext cx="9029700" cy="5029200"/>
          </a:xfrm>
          <a:prstGeom prst="rect">
            <a:avLst/>
          </a:prstGeom>
          <a:noFill/>
          <a:ln w="19050">
            <a:solidFill>
              <a:srgbClr val="0A8C6B"/>
            </a:solidFill>
            <a:prstDash val="solid"/>
          </a:ln>
          <a:effectLst>
            <a:outerShdw blurRad="38100" algn="ctr" rotWithShape="0">
              <a:srgbClr val="0A8C6B">
                <a:alpha val="15000"/>
              </a:srgbClr>
            </a:outerShdw>
          </a:effectLst>
        </p:spPr>
      </p:sp>
      <p:sp>
        <p:nvSpPr>
          <p:cNvPr id="901" name="DecoInnerBorder"/>
          <p:cNvSpPr/>
          <p:nvPr/>
        </p:nvSpPr>
        <p:spPr>
          <a:xfrm>
            <a:off x="85725" y="85725"/>
            <a:ext cx="8972550" cy="4972050"/>
          </a:xfrm>
          <a:prstGeom prst="rect">
            <a:avLst/>
          </a:prstGeom>
          <a:noFill/>
          <a:ln w="6350">
            <a:solidFill>
              <a:srgbClr val="FFD34E">
                <a:alpha val="60000"/>
              </a:srgbClr>
            </a:solidFill>
            <a:prstDash val="solid"/>
          </a:ln>
        </p:spPr>
      </p:sp>
      <p:sp>
        <p:nvSpPr>
          <p:cNvPr id="902" name="DecoCircleTL"/>
          <p:cNvSpPr/>
          <p:nvPr/>
        </p:nvSpPr>
        <p:spPr>
          <a:xfrm>
            <a:off x="-304800" y="-304800"/>
            <a:ext cx="1143000" cy="1143000"/>
          </a:xfrm>
          <a:prstGeom prst="ellipse">
            <a:avLst/>
          </a:prstGeom>
          <a:solidFill>
            <a:srgbClr val="0A8C6B">
              <a:alpha val="12000"/>
            </a:srgbClr>
          </a:solidFill>
          <a:ln>
            <a:solidFill>
              <a:srgbClr val="0A8C6B">
                <a:alpha val="25000"/>
              </a:srgbClr>
            </a:solidFill>
          </a:ln>
        </p:spPr>
      </p:sp>
      <p:sp>
        <p:nvSpPr>
          <p:cNvPr id="903" name="DecoCircleBR"/>
          <p:cNvSpPr/>
          <p:nvPr/>
        </p:nvSpPr>
        <p:spPr>
          <a:xfrm>
            <a:off x="8305800" y="4305300"/>
            <a:ext cx="1143000" cy="1143000"/>
          </a:xfrm>
          <a:prstGeom prst="ellipse">
            <a:avLst/>
          </a:prstGeom>
          <a:solidFill>
            <a:srgbClr val="FFD34E">
              <a:alpha val="10000"/>
            </a:srgbClr>
          </a:solidFill>
          <a:ln>
            <a:solidFill>
              <a:srgbClr val="FFD34E">
                <a:alpha val="20000"/>
              </a:srgbClr>
            </a:solidFill>
          </a:ln>
        </p:spPr>
      </p:sp>
      <p:sp>
        <p:nvSpPr>
          <p:cNvPr id="904" name="DecoRingML"/>
          <p:cNvSpPr/>
          <p:nvPr/>
        </p:nvSpPr>
        <p:spPr>
          <a:xfrm>
            <a:off x="-190500" y="2000250"/>
            <a:ext cx="571500" cy="571500"/>
          </a:xfrm>
          <a:prstGeom prst="ellipse">
            <a:avLst/>
          </a:prstGeom>
          <a:noFill/>
          <a:ln w="19050">
            <a:solidFill>
              <a:srgbClr val="0A8C6B">
                <a:alpha val="20000"/>
              </a:srgbClr>
            </a:solidFill>
          </a:ln>
        </p:spPr>
      </p:sp>
      <p:sp>
        <p:nvSpPr>
          <p:cNvPr id="905" name="DecoRingMR"/>
          <p:cNvSpPr/>
          <p:nvPr/>
        </p:nvSpPr>
        <p:spPr>
          <a:xfrm>
            <a:off x="8763000" y="1714500"/>
            <a:ext cx="571500" cy="571500"/>
          </a:xfrm>
          <a:prstGeom prst="ellipse">
            <a:avLst/>
          </a:prstGeom>
          <a:noFill/>
          <a:ln w="19050">
            <a:solidFill>
              <a:srgbClr val="FFD34E">
                <a:alpha val="25000"/>
              </a:srgbClr>
            </a:solidFill>
          </a:ln>
        </p:spPr>
      </p:sp>
      <p:sp>
        <p:nvSpPr>
          <p:cNvPr id="906" name="DecoDiamondTR"/>
          <p:cNvSpPr/>
          <p:nvPr/>
        </p:nvSpPr>
        <p:spPr>
          <a:xfrm rot="2700000">
            <a:off x="8800000" y="80000"/>
            <a:ext cx="190500" cy="190500"/>
          </a:xfrm>
          <a:prstGeom prst="diamond">
            <a:avLst/>
          </a:prstGeom>
          <a:solidFill>
            <a:srgbClr val="FFD34E">
              <a:alpha val="50000"/>
            </a:srgbClr>
          </a:solidFill>
          <a:ln>
            <a:noFill/>
          </a:ln>
        </p:spPr>
      </p:sp>
      <p:sp>
        <p:nvSpPr>
          <p:cNvPr id="907" name="DecoDiamondBL"/>
          <p:cNvSpPr/>
          <p:nvPr/>
        </p:nvSpPr>
        <p:spPr>
          <a:xfrm rot="2700000">
            <a:off x="150000" y="4870000"/>
            <a:ext cx="190500" cy="190500"/>
          </a:xfrm>
          <a:prstGeom prst="diamond">
            <a:avLst/>
          </a:prstGeom>
          <a:solidFill>
            <a:srgbClr val="0A8C6B">
              <a:alpha val="45000"/>
            </a:srgbClr>
          </a:solidFill>
          <a:ln>
            <a:noFill/>
          </a:ln>
        </p:spPr>
      </p:sp>
      <p:sp>
        <p:nvSpPr>
          <p:cNvPr id="908" name="DecoDot1"/>
          <p:cNvSpPr/>
          <p:nvPr/>
        </p:nvSpPr>
        <p:spPr>
          <a:xfrm>
            <a:off x="8600000" y="4200000"/>
            <a:ext cx="38100" cy="38100"/>
          </a:xfrm>
          <a:prstGeom prst="ellipse">
            <a:avLst/>
          </a:prstGeom>
          <a:solidFill>
            <a:srgbClr val="0A8C6B">
              <a:alpha val="30000"/>
            </a:srgbClr>
          </a:solidFill>
          <a:ln>
            <a:noFill/>
          </a:ln>
        </p:spPr>
      </p:sp>
      <p:sp>
        <p:nvSpPr>
          <p:cNvPr id="909" name="DecoDot2"/>
          <p:cNvSpPr/>
          <p:nvPr/>
        </p:nvSpPr>
        <p:spPr>
          <a:xfrm>
            <a:off x="8714000" y="4200000"/>
            <a:ext cx="38100" cy="38100"/>
          </a:xfrm>
          <a:prstGeom prst="ellipse">
            <a:avLst/>
          </a:prstGeom>
          <a:solidFill>
            <a:srgbClr val="0A8C6B">
              <a:alpha val="30000"/>
            </a:srgbClr>
          </a:solidFill>
          <a:ln>
            <a:noFill/>
          </a:ln>
        </p:spPr>
      </p:sp>
      <p:sp>
        <p:nvSpPr>
          <p:cNvPr id="910" name="DecoDot3"/>
          <p:cNvSpPr/>
          <p:nvPr/>
        </p:nvSpPr>
        <p:spPr>
          <a:xfrm>
            <a:off x="8828000" y="4200000"/>
            <a:ext cx="38100" cy="38100"/>
          </a:xfrm>
          <a:prstGeom prst="ellipse">
            <a:avLst/>
          </a:prstGeom>
          <a:solidFill>
            <a:srgbClr val="0A8C6B">
              <a:alpha val="30000"/>
            </a:srgbClr>
          </a:solidFill>
          <a:ln>
            <a:noFill/>
          </a:ln>
        </p:spPr>
      </p:sp>
      <p:sp>
        <p:nvSpPr>
          <p:cNvPr id="911" name="DecoDot4"/>
          <p:cNvSpPr/>
          <p:nvPr/>
        </p:nvSpPr>
        <p:spPr>
          <a:xfrm>
            <a:off x="8600000" y="4314000"/>
            <a:ext cx="38100" cy="38100"/>
          </a:xfrm>
          <a:prstGeom prst="ellipse">
            <a:avLst/>
          </a:prstGeom>
          <a:solidFill>
            <a:srgbClr val="0A8C6B">
              <a:alpha val="30000"/>
            </a:srgbClr>
          </a:solidFill>
          <a:ln>
            <a:noFill/>
          </a:ln>
        </p:spPr>
      </p:sp>
      <p:sp>
        <p:nvSpPr>
          <p:cNvPr id="912" name="DecoDot5"/>
          <p:cNvSpPr/>
          <p:nvPr/>
        </p:nvSpPr>
        <p:spPr>
          <a:xfrm>
            <a:off x="8714000" y="4314000"/>
            <a:ext cx="38100" cy="38100"/>
          </a:xfrm>
          <a:prstGeom prst="ellipse">
            <a:avLst/>
          </a:prstGeom>
          <a:solidFill>
            <a:srgbClr val="0A8C6B">
              <a:alpha val="30000"/>
            </a:srgbClr>
          </a:solidFill>
          <a:ln>
            <a:noFill/>
          </a:ln>
        </p:spPr>
      </p:sp>
      <p:sp>
        <p:nvSpPr>
          <p:cNvPr id="913" name="DecoDot6"/>
          <p:cNvSpPr/>
          <p:nvPr/>
        </p:nvSpPr>
        <p:spPr>
          <a:xfrm>
            <a:off x="8828000" y="4314000"/>
            <a:ext cx="38100" cy="38100"/>
          </a:xfrm>
          <a:prstGeom prst="ellipse">
            <a:avLst/>
          </a:prstGeom>
          <a:solidFill>
            <a:srgbClr val="0A8C6B">
              <a:alpha val="30000"/>
            </a:srgbClr>
          </a:solidFill>
          <a:ln>
            <a:noFill/>
          </a:ln>
        </p:spPr>
      </p:sp>
      <p:sp>
        <p:nvSpPr>
          <p:cNvPr id="914" name="DecoDot7"/>
          <p:cNvSpPr/>
          <p:nvPr/>
        </p:nvSpPr>
        <p:spPr>
          <a:xfrm>
            <a:off x="8600000" y="4428000"/>
            <a:ext cx="38100" cy="38100"/>
          </a:xfrm>
          <a:prstGeom prst="ellipse">
            <a:avLst/>
          </a:prstGeom>
          <a:solidFill>
            <a:srgbClr val="0A8C6B">
              <a:alpha val="30000"/>
            </a:srgbClr>
          </a:solidFill>
          <a:ln>
            <a:noFill/>
          </a:ln>
        </p:spPr>
      </p:sp>
      <p:sp>
        <p:nvSpPr>
          <p:cNvPr id="915" name="DecoDot8"/>
          <p:cNvSpPr/>
          <p:nvPr/>
        </p:nvSpPr>
        <p:spPr>
          <a:xfrm>
            <a:off x="8714000" y="4428000"/>
            <a:ext cx="38100" cy="38100"/>
          </a:xfrm>
          <a:prstGeom prst="ellipse">
            <a:avLst/>
          </a:prstGeom>
          <a:solidFill>
            <a:srgbClr val="0A8C6B">
              <a:alpha val="30000"/>
            </a:srgbClr>
          </a:solidFill>
          <a:ln>
            <a:noFill/>
          </a:ln>
        </p:spPr>
      </p:sp>
      <p:sp>
        <p:nvSpPr>
          <p:cNvPr id="916" name="DecoDot9"/>
          <p:cNvSpPr/>
          <p:nvPr/>
        </p:nvSpPr>
        <p:spPr>
          <a:xfrm>
            <a:off x="8828000" y="4428000"/>
            <a:ext cx="38100" cy="38100"/>
          </a:xfrm>
          <a:prstGeom prst="ellipse">
            <a:avLst/>
          </a:prstGeom>
          <a:solidFill>
            <a:srgbClr val="0A8C6B">
              <a:alpha val="30000"/>
            </a:srgbClr>
          </a:solidFill>
          <a:ln>
            <a:noFill/>
          </a:ln>
        </p:spPr>
      </p:sp>
      <p:sp>
        <p:nvSpPr>
          <p:cNvPr id="917" name="DecoLDot1"/>
          <p:cNvSpPr/>
          <p:nvPr/>
        </p:nvSpPr>
        <p:spPr>
          <a:xfrm>
            <a:off x="155000" y="1200000"/>
            <a:ext cx="28575" cy="28575"/>
          </a:xfrm>
          <a:prstGeom prst="ellipse">
            <a:avLst/>
          </a:prstGeom>
          <a:solidFill>
            <a:srgbClr val="FFD34E">
              <a:alpha val="40000"/>
            </a:srgbClr>
          </a:solidFill>
          <a:ln>
            <a:noFill/>
          </a:ln>
        </p:spPr>
      </p:sp>
      <p:sp>
        <p:nvSpPr>
          <p:cNvPr id="918" name="DecoLDot2"/>
          <p:cNvSpPr/>
          <p:nvPr/>
        </p:nvSpPr>
        <p:spPr>
          <a:xfrm>
            <a:off x="155000" y="1314000"/>
            <a:ext cx="28575" cy="28575"/>
          </a:xfrm>
          <a:prstGeom prst="ellipse">
            <a:avLst/>
          </a:prstGeom>
          <a:solidFill>
            <a:srgbClr val="FFD34E">
              <a:alpha val="40000"/>
            </a:srgbClr>
          </a:solidFill>
          <a:ln>
            <a:noFill/>
          </a:ln>
        </p:spPr>
      </p:sp>
      <p:sp>
        <p:nvSpPr>
          <p:cNvPr id="919" name="DecoLDot3"/>
          <p:cNvSpPr/>
          <p:nvPr/>
        </p:nvSpPr>
        <p:spPr>
          <a:xfrm>
            <a:off x="155000" y="1428000"/>
            <a:ext cx="28575" cy="28575"/>
          </a:xfrm>
          <a:prstGeom prst="ellipse">
            <a:avLst/>
          </a:prstGeom>
          <a:solidFill>
            <a:srgbClr val="FFD34E">
              <a:alpha val="40000"/>
            </a:srgbClr>
          </a:solidFill>
          <a:ln>
            <a:noFill/>
          </a:ln>
        </p:spPr>
      </p:sp>
      <p:sp>
        <p:nvSpPr>
          <p:cNvPr id="920" name="DecoLDot4"/>
          <p:cNvSpPr/>
          <p:nvPr/>
        </p:nvSpPr>
        <p:spPr>
          <a:xfrm>
            <a:off x="155000" y="1542000"/>
            <a:ext cx="28575" cy="28575"/>
          </a:xfrm>
          <a:prstGeom prst="ellipse">
            <a:avLst/>
          </a:prstGeom>
          <a:solidFill>
            <a:srgbClr val="FFD34E">
              <a:alpha val="40000"/>
            </a:srgbClr>
          </a:solidFill>
          <a:ln>
            <a:noFill/>
          </a:ln>
        </p:spPr>
      </p:sp>
      <p:sp>
        <p:nvSpPr>
          <p:cNvPr id="921" name="DecoLDot5"/>
          <p:cNvSpPr/>
          <p:nvPr/>
        </p:nvSpPr>
        <p:spPr>
          <a:xfrm>
            <a:off x="155000" y="1656000"/>
            <a:ext cx="28575" cy="28575"/>
          </a:xfrm>
          <a:prstGeom prst="ellipse">
            <a:avLst/>
          </a:prstGeom>
          <a:solidFill>
            <a:srgbClr val="FFD34E">
              <a:alpha val="40000"/>
            </a:srgbClr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-484"/>
            <a:ext cx="9144000" cy="823913"/>
          </a:xfrm>
          <a:prstGeom prst="rect">
            <a:avLst/>
          </a:prstGeom>
          <a:gradFill>
            <a:gsLst>
              <a:gs pos="0">
                <a:srgbClr val="0D6B52"/>
              </a:gs>
              <a:gs pos="50000">
                <a:srgbClr val="0A8C6B"/>
              </a:gs>
              <a:gs pos="100000">
                <a:srgbClr val="07705A"/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780976"/>
            <a:ext cx="9144000" cy="42863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8" name="Text 5"/>
          <p:cNvSpPr/>
          <p:nvPr/>
        </p:nvSpPr>
        <p:spPr>
          <a:xfrm>
            <a:off x="1781285" y="210996"/>
            <a:ext cx="495442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/>
            <a:r>
              <a:rPr lang="en-US" sz="1600" b="1" i="0" dirty="0">
                <a:solidFill>
                  <a:schemeClr val="bg1"/>
                </a:solidFill>
                <a:effectLst/>
                <a:latin typeface="Mona Sans VF"/>
              </a:rPr>
              <a:t>Thinking Like a Champion: Frequency Analysis and Greedy Reasoning</a:t>
            </a:r>
          </a:p>
          <a:p>
            <a:pPr algn="ctr"/>
            <a:r>
              <a:rPr lang="en-US" sz="1600" b="1" i="0" dirty="0">
                <a:solidFill>
                  <a:schemeClr val="bg1"/>
                </a:solidFill>
                <a:effectLst/>
                <a:latin typeface="Mona Sans VF"/>
              </a:rPr>
              <a:t>in Competitive Programming Game Theory</a:t>
            </a:r>
          </a:p>
        </p:txBody>
      </p:sp>
      <p:sp>
        <p:nvSpPr>
          <p:cNvPr id="9" name="Text 6"/>
          <p:cNvSpPr/>
          <p:nvPr/>
        </p:nvSpPr>
        <p:spPr>
          <a:xfrm>
            <a:off x="1926956" y="447868"/>
            <a:ext cx="529001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03"/>
              </a:spcBef>
              <a:buNone/>
            </a:pP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275183" y="904689"/>
            <a:ext cx="2071688" cy="1009650"/>
          </a:xfrm>
          <a:prstGeom prst="roundRect">
            <a:avLst>
              <a:gd name="adj" fmla="val 5094"/>
            </a:avLst>
          </a:prstGeom>
          <a:solidFill>
            <a:srgbClr val="F9FCFB"/>
          </a:solidFill>
          <a:ln w="4763">
            <a:solidFill>
              <a:srgbClr val="5DADA0"/>
            </a:solidFill>
            <a:prstDash val="solid"/>
          </a:ln>
          <a:effectLst>
            <a:outerShdw blurRad="72009" dist="25718" dir="5400000" algn="bl" rotWithShape="0">
              <a:srgbClr val="0A3D2E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9946" y="910754"/>
            <a:ext cx="2062162" cy="223838"/>
          </a:xfrm>
          <a:prstGeom prst="rect">
            <a:avLst/>
          </a:prstGeom>
          <a:gradFill>
            <a:gsLst>
              <a:gs pos="0">
                <a:srgbClr val="17A86B"/>
              </a:gs>
              <a:gs pos="100000">
                <a:srgbClr val="0E7A57"/>
              </a:gs>
            </a:gsLst>
            <a:lin ang="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370433" y="955402"/>
            <a:ext cx="6263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810" b="1" kern="0" spc="-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Overview</a:t>
            </a:r>
            <a:endParaRPr lang="en-US" sz="810" dirty="0"/>
          </a:p>
        </p:txBody>
      </p:sp>
      <p:sp>
        <p:nvSpPr>
          <p:cNvPr id="15" name="Text 12"/>
          <p:cNvSpPr/>
          <p:nvPr/>
        </p:nvSpPr>
        <p:spPr>
          <a:xfrm>
            <a:off x="370434" y="1176933"/>
            <a:ext cx="1884484" cy="299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removal and turn-based game problems look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intimidating, yet they collapse to one question:</a:t>
            </a: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who is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forced to move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once the board reaches a critical state.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70433" y="1504578"/>
            <a:ext cx="2387865" cy="299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winning lens is </a:t>
            </a: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frequency parity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combined with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greedy reasoning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no game tree, no exhaustive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search. Most tasks resolve in </a:t>
            </a: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O(n log n)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275183" y="1971154"/>
            <a:ext cx="2071688" cy="957263"/>
          </a:xfrm>
          <a:prstGeom prst="roundRect">
            <a:avLst>
              <a:gd name="adj" fmla="val 5373"/>
            </a:avLst>
          </a:prstGeom>
          <a:solidFill>
            <a:srgbClr val="F9FCFB"/>
          </a:solidFill>
          <a:ln w="4763">
            <a:solidFill>
              <a:srgbClr val="5DADA0"/>
            </a:solidFill>
            <a:prstDash val="solid"/>
          </a:ln>
          <a:effectLst>
            <a:outerShdw blurRad="72009" dist="25718" dir="5400000" algn="bl" rotWithShape="0">
              <a:srgbClr val="0A3D2E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9946" y="1975991"/>
            <a:ext cx="2062162" cy="223838"/>
          </a:xfrm>
          <a:prstGeom prst="rect">
            <a:avLst/>
          </a:prstGeom>
          <a:gradFill>
            <a:gsLst>
              <a:gs pos="0">
                <a:srgbClr val="17A86B"/>
              </a:gs>
              <a:gs pos="100000">
                <a:srgbClr val="0E7A57"/>
              </a:gs>
            </a:gsLst>
            <a:lin ang="0" scaled="0"/>
          </a:gradFill>
          <a:ln/>
        </p:spPr>
      </p:sp>
      <p:sp>
        <p:nvSpPr>
          <p:cNvPr id="19" name="Text 16"/>
          <p:cNvSpPr/>
          <p:nvPr/>
        </p:nvSpPr>
        <p:spPr>
          <a:xfrm>
            <a:off x="370433" y="2020639"/>
            <a:ext cx="20667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810" b="1" kern="0" spc="-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Core Idea: Frequency Parity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370433" y="2242170"/>
            <a:ext cx="2298383" cy="19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 how often each value or state appears, then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parity: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70433" y="2470026"/>
            <a:ext cx="39321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 →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92944" y="2470026"/>
            <a:ext cx="20249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elements pair off and cancel. Neutral for the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92944" y="2569815"/>
            <a:ext cx="35810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mover.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370433" y="2697882"/>
            <a:ext cx="3568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Odd →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64964" y="2697882"/>
            <a:ext cx="20201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element is left unpaired. It decides who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64964" y="2797671"/>
            <a:ext cx="54055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gets stuck.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370433" y="2925738"/>
            <a:ext cx="2451713" cy="19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parity of the deciding frequency — not brute force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predicts the winner.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275183" y="2986199"/>
            <a:ext cx="2071688" cy="1457325"/>
          </a:xfrm>
          <a:prstGeom prst="roundRect">
            <a:avLst>
              <a:gd name="adj" fmla="val 3529"/>
            </a:avLst>
          </a:prstGeom>
          <a:solidFill>
            <a:srgbClr val="F9FCFB"/>
          </a:solidFill>
          <a:ln w="4763">
            <a:solidFill>
              <a:srgbClr val="5DADA0"/>
            </a:solidFill>
            <a:prstDash val="solid"/>
          </a:ln>
          <a:effectLst>
            <a:outerShdw blurRad="72009" dist="25718" dir="5400000" algn="bl" rotWithShape="0">
              <a:srgbClr val="0A3D2E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79946" y="2991296"/>
            <a:ext cx="2062162" cy="223838"/>
          </a:xfrm>
          <a:prstGeom prst="rect">
            <a:avLst/>
          </a:prstGeom>
          <a:gradFill>
            <a:gsLst>
              <a:gs pos="0">
                <a:srgbClr val="17A86B"/>
              </a:gs>
              <a:gs pos="100000">
                <a:srgbClr val="0E7A57"/>
              </a:gs>
            </a:gsLst>
            <a:lin ang="0" scaled="0"/>
          </a:gradFill>
          <a:ln/>
        </p:spPr>
      </p:sp>
      <p:sp>
        <p:nvSpPr>
          <p:cNvPr id="30" name="Text 27"/>
          <p:cNvSpPr/>
          <p:nvPr/>
        </p:nvSpPr>
        <p:spPr>
          <a:xfrm>
            <a:off x="370433" y="3035945"/>
            <a:ext cx="138023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810" b="1" kern="0" spc="-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Mental Checklist</a:t>
            </a:r>
            <a:endParaRPr lang="en-US" sz="810" dirty="0"/>
          </a:p>
        </p:txBody>
      </p:sp>
      <p:sp>
        <p:nvSpPr>
          <p:cNvPr id="31" name="Text 28"/>
          <p:cNvSpPr/>
          <p:nvPr/>
        </p:nvSpPr>
        <p:spPr>
          <a:xfrm>
            <a:off x="421184" y="3279651"/>
            <a:ext cx="1033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20" b="1" dirty="0">
                <a:solidFill>
                  <a:srgbClr val="0A3D2E"/>
                </a:solidFill>
                <a:highlight>
                  <a:srgbClr val="FFD34E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620" dirty="0"/>
          </a:p>
        </p:txBody>
      </p:sp>
      <p:sp>
        <p:nvSpPr>
          <p:cNvPr id="32" name="Text 29"/>
          <p:cNvSpPr/>
          <p:nvPr/>
        </p:nvSpPr>
        <p:spPr>
          <a:xfrm>
            <a:off x="571574" y="3257476"/>
            <a:ext cx="198814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the move.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What does a single turn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571574" y="3357265"/>
            <a:ext cx="9039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or change?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415603" y="3507507"/>
            <a:ext cx="11790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20" b="1" dirty="0">
                <a:solidFill>
                  <a:srgbClr val="0A3D2E"/>
                </a:solidFill>
                <a:highlight>
                  <a:srgbClr val="FFD34E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620" dirty="0"/>
          </a:p>
        </p:txBody>
      </p:sp>
      <p:sp>
        <p:nvSpPr>
          <p:cNvPr id="35" name="Text 32"/>
          <p:cNvSpPr/>
          <p:nvPr/>
        </p:nvSpPr>
        <p:spPr>
          <a:xfrm>
            <a:off x="571574" y="3485331"/>
            <a:ext cx="187882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the invariant.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Which quantity shifts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571574" y="3585121"/>
            <a:ext cx="105529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predictably each turn?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415082" y="3735363"/>
            <a:ext cx="11935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20" b="1" dirty="0">
                <a:solidFill>
                  <a:srgbClr val="0A3D2E"/>
                </a:solidFill>
                <a:highlight>
                  <a:srgbClr val="FFD34E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620" dirty="0"/>
          </a:p>
        </p:txBody>
      </p:sp>
      <p:sp>
        <p:nvSpPr>
          <p:cNvPr id="38" name="Text 35"/>
          <p:cNvSpPr/>
          <p:nvPr/>
        </p:nvSpPr>
        <p:spPr>
          <a:xfrm>
            <a:off x="571574" y="3713187"/>
            <a:ext cx="206079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 frequencies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of values or equal-valued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571574" y="3812977"/>
            <a:ext cx="39147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groups.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413965" y="3963219"/>
            <a:ext cx="12215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20" b="1" dirty="0">
                <a:solidFill>
                  <a:srgbClr val="0A3D2E"/>
                </a:solidFill>
                <a:highlight>
                  <a:srgbClr val="FFD34E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620" dirty="0"/>
          </a:p>
        </p:txBody>
      </p:sp>
      <p:sp>
        <p:nvSpPr>
          <p:cNvPr id="41" name="Text 38"/>
          <p:cNvSpPr/>
          <p:nvPr/>
        </p:nvSpPr>
        <p:spPr>
          <a:xfrm>
            <a:off x="571574" y="3941043"/>
            <a:ext cx="19474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parity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(odd or even) of the deciding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571574" y="4040832"/>
            <a:ext cx="33807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count.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415379" y="4191074"/>
            <a:ext cx="11848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20" b="1" dirty="0">
                <a:solidFill>
                  <a:srgbClr val="0A3D2E"/>
                </a:solidFill>
                <a:highlight>
                  <a:srgbClr val="FFD34E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620" dirty="0"/>
          </a:p>
        </p:txBody>
      </p:sp>
      <p:sp>
        <p:nvSpPr>
          <p:cNvPr id="44" name="Text 41"/>
          <p:cNvSpPr/>
          <p:nvPr/>
        </p:nvSpPr>
        <p:spPr>
          <a:xfrm>
            <a:off x="571574" y="4168899"/>
            <a:ext cx="192236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 parity to the winner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first player or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571574" y="4268688"/>
            <a:ext cx="70152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 player.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2449190" y="904205"/>
            <a:ext cx="2071688" cy="1743075"/>
          </a:xfrm>
          <a:prstGeom prst="roundRect">
            <a:avLst>
              <a:gd name="adj" fmla="val 2951"/>
            </a:avLst>
          </a:prstGeom>
          <a:solidFill>
            <a:srgbClr val="F9FCFB"/>
          </a:solidFill>
          <a:ln w="4763">
            <a:solidFill>
              <a:srgbClr val="5DADA0"/>
            </a:solidFill>
            <a:prstDash val="solid"/>
          </a:ln>
          <a:effectLst>
            <a:outerShdw blurRad="72009" dist="25718" dir="5400000" algn="bl" rotWithShape="0">
              <a:srgbClr val="0A3D2E">
                <a:alpha val="1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2453953" y="910754"/>
            <a:ext cx="2062162" cy="223838"/>
          </a:xfrm>
          <a:prstGeom prst="rect">
            <a:avLst/>
          </a:prstGeom>
          <a:gradFill>
            <a:gsLst>
              <a:gs pos="0">
                <a:srgbClr val="17A86B"/>
              </a:gs>
              <a:gs pos="100000">
                <a:srgbClr val="0E7A57"/>
              </a:gs>
            </a:gsLst>
            <a:lin ang="0" scaled="0"/>
          </a:gradFill>
          <a:ln/>
        </p:spPr>
      </p:sp>
      <p:sp>
        <p:nvSpPr>
          <p:cNvPr id="48" name="Text 45"/>
          <p:cNvSpPr/>
          <p:nvPr/>
        </p:nvSpPr>
        <p:spPr>
          <a:xfrm>
            <a:off x="2544440" y="955402"/>
            <a:ext cx="14969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810" b="1" kern="0" spc="-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Greedy Framework</a:t>
            </a:r>
            <a:endParaRPr lang="en-US" sz="810" dirty="0"/>
          </a:p>
        </p:txBody>
      </p:sp>
      <p:sp>
        <p:nvSpPr>
          <p:cNvPr id="49" name="Text 46"/>
          <p:cNvSpPr/>
          <p:nvPr/>
        </p:nvSpPr>
        <p:spPr>
          <a:xfrm>
            <a:off x="2544440" y="1176933"/>
            <a:ext cx="14798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2678311" y="1176933"/>
            <a:ext cx="110569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 the items by value.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2544440" y="1304999"/>
            <a:ext cx="14798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</a:t>
            </a:r>
            <a:endParaRPr lang="en-US" sz="600" dirty="0"/>
          </a:p>
        </p:txBody>
      </p:sp>
      <p:sp>
        <p:nvSpPr>
          <p:cNvPr id="52" name="Text 49"/>
          <p:cNvSpPr/>
          <p:nvPr/>
        </p:nvSpPr>
        <p:spPr>
          <a:xfrm>
            <a:off x="2678311" y="1304999"/>
            <a:ext cx="21551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Walk groups of equal value, smallest to largest.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2544440" y="1433066"/>
            <a:ext cx="14798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2678311" y="1433066"/>
            <a:ext cx="213228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Even-sized group → players mirror; the state is</a:t>
            </a:r>
            <a:endParaRPr lang="en-US" sz="600" dirty="0"/>
          </a:p>
        </p:txBody>
      </p:sp>
      <p:sp>
        <p:nvSpPr>
          <p:cNvPr id="55" name="Text 52"/>
          <p:cNvSpPr/>
          <p:nvPr/>
        </p:nvSpPr>
        <p:spPr>
          <a:xfrm>
            <a:off x="2678311" y="1532855"/>
            <a:ext cx="57905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unchanged.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2544440" y="1660922"/>
            <a:ext cx="14798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</a:t>
            </a:r>
            <a:endParaRPr lang="en-US" sz="600" dirty="0"/>
          </a:p>
        </p:txBody>
      </p:sp>
      <p:sp>
        <p:nvSpPr>
          <p:cNvPr id="57" name="Text 54"/>
          <p:cNvSpPr/>
          <p:nvPr/>
        </p:nvSpPr>
        <p:spPr>
          <a:xfrm>
            <a:off x="2678311" y="1660922"/>
            <a:ext cx="232837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Odd-sized group → it forces a transition; the tempo</a:t>
            </a:r>
            <a:endParaRPr lang="en-US" sz="600" dirty="0"/>
          </a:p>
        </p:txBody>
      </p:sp>
      <p:sp>
        <p:nvSpPr>
          <p:cNvPr id="58" name="Text 55"/>
          <p:cNvSpPr/>
          <p:nvPr/>
        </p:nvSpPr>
        <p:spPr>
          <a:xfrm>
            <a:off x="2678311" y="1760711"/>
            <a:ext cx="27461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flips.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544440" y="1888778"/>
            <a:ext cx="14798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</a:t>
            </a:r>
            <a:endParaRPr lang="en-US" sz="600" dirty="0"/>
          </a:p>
        </p:txBody>
      </p:sp>
      <p:sp>
        <p:nvSpPr>
          <p:cNvPr id="60" name="Text 57"/>
          <p:cNvSpPr/>
          <p:nvPr/>
        </p:nvSpPr>
        <p:spPr>
          <a:xfrm>
            <a:off x="2678311" y="1888778"/>
            <a:ext cx="205847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at the exit condition: the first group that</a:t>
            </a:r>
            <a:endParaRPr lang="en-US" sz="600" dirty="0"/>
          </a:p>
        </p:txBody>
      </p:sp>
      <p:sp>
        <p:nvSpPr>
          <p:cNvPr id="61" name="Text 58"/>
          <p:cNvSpPr/>
          <p:nvPr/>
        </p:nvSpPr>
        <p:spPr>
          <a:xfrm>
            <a:off x="2678311" y="1988567"/>
            <a:ext cx="84914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breaks the mirror.</a:t>
            </a:r>
            <a:endParaRPr lang="en-US" sz="600" dirty="0"/>
          </a:p>
        </p:txBody>
      </p:sp>
      <p:sp>
        <p:nvSpPr>
          <p:cNvPr id="62" name="Shape 59"/>
          <p:cNvSpPr/>
          <p:nvPr/>
        </p:nvSpPr>
        <p:spPr>
          <a:xfrm>
            <a:off x="2449190" y="2701900"/>
            <a:ext cx="2071688" cy="1743075"/>
          </a:xfrm>
          <a:prstGeom prst="roundRect">
            <a:avLst>
              <a:gd name="adj" fmla="val 2951"/>
            </a:avLst>
          </a:prstGeom>
          <a:solidFill>
            <a:srgbClr val="F9FCFB"/>
          </a:solidFill>
          <a:ln w="4763">
            <a:solidFill>
              <a:srgbClr val="5DADA0"/>
            </a:solidFill>
            <a:prstDash val="solid"/>
          </a:ln>
          <a:effectLst>
            <a:outerShdw blurRad="72009" dist="25718" dir="5400000" algn="bl" rotWithShape="0">
              <a:srgbClr val="0A3D2E">
                <a:alpha val="18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2453953" y="2708449"/>
            <a:ext cx="2062162" cy="223838"/>
          </a:xfrm>
          <a:prstGeom prst="rect">
            <a:avLst/>
          </a:prstGeom>
          <a:gradFill>
            <a:gsLst>
              <a:gs pos="0">
                <a:srgbClr val="17A86B"/>
              </a:gs>
              <a:gs pos="100000">
                <a:srgbClr val="0E7A57"/>
              </a:gs>
            </a:gsLst>
            <a:lin ang="0" scaled="0"/>
          </a:gradFill>
          <a:ln/>
        </p:spPr>
      </p:sp>
      <p:sp>
        <p:nvSpPr>
          <p:cNvPr id="64" name="Text 61"/>
          <p:cNvSpPr/>
          <p:nvPr/>
        </p:nvSpPr>
        <p:spPr>
          <a:xfrm>
            <a:off x="2544440" y="2753097"/>
            <a:ext cx="142309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810" b="1" kern="0" spc="-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Reading the Outcome</a:t>
            </a:r>
            <a:endParaRPr lang="en-US" sz="810" dirty="0"/>
          </a:p>
        </p:txBody>
      </p:sp>
      <p:sp>
        <p:nvSpPr>
          <p:cNvPr id="65" name="Text 62"/>
          <p:cNvSpPr/>
          <p:nvPr/>
        </p:nvSpPr>
        <p:spPr>
          <a:xfrm>
            <a:off x="2544440" y="3251522"/>
            <a:ext cx="4883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Unpaired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3141613" y="3251522"/>
            <a:ext cx="73480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happens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4163467" y="3251522"/>
            <a:ext cx="39795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Winner</a:t>
            </a:r>
            <a:endParaRPr lang="en-US" sz="600" dirty="0"/>
          </a:p>
        </p:txBody>
      </p:sp>
      <p:sp>
        <p:nvSpPr>
          <p:cNvPr id="68" name="Text 65"/>
          <p:cNvSpPr/>
          <p:nvPr/>
        </p:nvSpPr>
        <p:spPr>
          <a:xfrm>
            <a:off x="2544440" y="3351312"/>
            <a:ext cx="4922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element?</a:t>
            </a:r>
            <a:endParaRPr lang="en-US" sz="600" dirty="0"/>
          </a:p>
        </p:txBody>
      </p:sp>
      <p:sp>
        <p:nvSpPr>
          <p:cNvPr id="69" name="Text 66"/>
          <p:cNvSpPr/>
          <p:nvPr/>
        </p:nvSpPr>
        <p:spPr>
          <a:xfrm>
            <a:off x="2544440" y="3553123"/>
            <a:ext cx="72948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None (all even)</a:t>
            </a:r>
            <a:endParaRPr lang="en-US" sz="600" dirty="0"/>
          </a:p>
        </p:txBody>
      </p:sp>
      <p:sp>
        <p:nvSpPr>
          <p:cNvPr id="70" name="Text 67"/>
          <p:cNvSpPr/>
          <p:nvPr/>
        </p:nvSpPr>
        <p:spPr>
          <a:xfrm>
            <a:off x="3141613" y="3553123"/>
            <a:ext cx="104910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Mover runs out of safe</a:t>
            </a:r>
            <a:endParaRPr lang="en-US" sz="600" dirty="0"/>
          </a:p>
        </p:txBody>
      </p:sp>
      <p:sp>
        <p:nvSpPr>
          <p:cNvPr id="71" name="Text 68"/>
          <p:cNvSpPr/>
          <p:nvPr/>
        </p:nvSpPr>
        <p:spPr>
          <a:xfrm>
            <a:off x="4159672" y="3553123"/>
            <a:ext cx="40289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</a:t>
            </a:r>
            <a:endParaRPr lang="en-US" sz="600" dirty="0"/>
          </a:p>
        </p:txBody>
      </p:sp>
      <p:sp>
        <p:nvSpPr>
          <p:cNvPr id="72" name="Text 69"/>
          <p:cNvSpPr/>
          <p:nvPr/>
        </p:nvSpPr>
        <p:spPr>
          <a:xfrm>
            <a:off x="3141613" y="3652912"/>
            <a:ext cx="35094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moves</a:t>
            </a:r>
            <a:endParaRPr lang="en-US" sz="600" dirty="0"/>
          </a:p>
        </p:txBody>
      </p:sp>
      <p:sp>
        <p:nvSpPr>
          <p:cNvPr id="73" name="Text 70"/>
          <p:cNvSpPr/>
          <p:nvPr/>
        </p:nvSpPr>
        <p:spPr>
          <a:xfrm>
            <a:off x="2544440" y="3860304"/>
            <a:ext cx="5011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(odd)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3141613" y="3860304"/>
            <a:ext cx="92605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Opponent forced to</a:t>
            </a:r>
            <a:endParaRPr lang="en-US" sz="600" dirty="0"/>
          </a:p>
        </p:txBody>
      </p:sp>
      <p:sp>
        <p:nvSpPr>
          <p:cNvPr id="75" name="Text 72"/>
          <p:cNvSpPr/>
          <p:nvPr/>
        </p:nvSpPr>
        <p:spPr>
          <a:xfrm>
            <a:off x="4260354" y="3860304"/>
            <a:ext cx="27200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</a:t>
            </a:r>
            <a:endParaRPr lang="en-US" sz="600" dirty="0"/>
          </a:p>
        </p:txBody>
      </p:sp>
      <p:sp>
        <p:nvSpPr>
          <p:cNvPr id="76" name="Text 73"/>
          <p:cNvSpPr/>
          <p:nvPr/>
        </p:nvSpPr>
        <p:spPr>
          <a:xfrm>
            <a:off x="3141613" y="3960093"/>
            <a:ext cx="45745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disturb it</a:t>
            </a:r>
            <a:endParaRPr lang="en-US" sz="600" dirty="0"/>
          </a:p>
        </p:txBody>
      </p:sp>
      <p:sp>
        <p:nvSpPr>
          <p:cNvPr id="77" name="Shape 74"/>
          <p:cNvSpPr/>
          <p:nvPr/>
        </p:nvSpPr>
        <p:spPr>
          <a:xfrm>
            <a:off x="4623197" y="904205"/>
            <a:ext cx="2071688" cy="1743075"/>
          </a:xfrm>
          <a:prstGeom prst="roundRect">
            <a:avLst>
              <a:gd name="adj" fmla="val 2951"/>
            </a:avLst>
          </a:prstGeom>
          <a:solidFill>
            <a:srgbClr val="F9FCFB"/>
          </a:solidFill>
          <a:ln w="4763">
            <a:solidFill>
              <a:srgbClr val="5DADA0"/>
            </a:solidFill>
            <a:prstDash val="solid"/>
          </a:ln>
          <a:effectLst>
            <a:outerShdw blurRad="72009" dist="25718" dir="5400000" algn="bl" rotWithShape="0">
              <a:srgbClr val="0A3D2E">
                <a:alpha val="18000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4627959" y="910754"/>
            <a:ext cx="2062162" cy="223838"/>
          </a:xfrm>
          <a:prstGeom prst="rect">
            <a:avLst/>
          </a:prstGeom>
          <a:gradFill>
            <a:gsLst>
              <a:gs pos="0">
                <a:srgbClr val="17A86B"/>
              </a:gs>
              <a:gs pos="100000">
                <a:srgbClr val="0E7A57"/>
              </a:gs>
            </a:gsLst>
            <a:lin ang="0" scaled="0"/>
          </a:gradFill>
          <a:ln/>
        </p:spPr>
      </p:sp>
      <p:sp>
        <p:nvSpPr>
          <p:cNvPr id="79" name="Text 76"/>
          <p:cNvSpPr/>
          <p:nvPr/>
        </p:nvSpPr>
        <p:spPr>
          <a:xfrm>
            <a:off x="4718447" y="955402"/>
            <a:ext cx="230496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810" b="1" kern="0" spc="-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It Works: The Pairing Argument</a:t>
            </a:r>
            <a:endParaRPr lang="en-US" sz="810" dirty="0"/>
          </a:p>
        </p:txBody>
      </p:sp>
      <p:sp>
        <p:nvSpPr>
          <p:cNvPr id="80" name="Text 77"/>
          <p:cNvSpPr/>
          <p:nvPr/>
        </p:nvSpPr>
        <p:spPr>
          <a:xfrm>
            <a:off x="4718447" y="1176933"/>
            <a:ext cx="2383899" cy="39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all counts are even, the </a:t>
            </a: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 player simply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copies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first player's move, keeping the position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balanced — so the first player eventually has no safe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left.</a:t>
            </a:r>
            <a:endParaRPr lang="en-US" sz="600" dirty="0"/>
          </a:p>
        </p:txBody>
      </p:sp>
      <p:sp>
        <p:nvSpPr>
          <p:cNvPr id="81" name="Text 78"/>
          <p:cNvSpPr/>
          <p:nvPr/>
        </p:nvSpPr>
        <p:spPr>
          <a:xfrm>
            <a:off x="4718447" y="1604367"/>
            <a:ext cx="2475897" cy="299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</a:t>
            </a: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unpaired element breaks the symmetry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the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player spends it to hand the balanced burden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straight back to the opponent.</a:t>
            </a:r>
            <a:endParaRPr lang="en-US" sz="600" dirty="0"/>
          </a:p>
        </p:txBody>
      </p:sp>
      <p:sp>
        <p:nvSpPr>
          <p:cNvPr id="82" name="Text 79"/>
          <p:cNvSpPr/>
          <p:nvPr/>
        </p:nvSpPr>
        <p:spPr>
          <a:xfrm>
            <a:off x="4718447" y="1932012"/>
            <a:ext cx="2379449" cy="19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Parity is conserved across turns, so the </a:t>
            </a: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initial count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b="1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already fixes the result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600" dirty="0"/>
          </a:p>
        </p:txBody>
      </p:sp>
      <p:sp>
        <p:nvSpPr>
          <p:cNvPr id="83" name="Shape 80"/>
          <p:cNvSpPr/>
          <p:nvPr/>
        </p:nvSpPr>
        <p:spPr>
          <a:xfrm>
            <a:off x="4623197" y="2701900"/>
            <a:ext cx="2071688" cy="1743075"/>
          </a:xfrm>
          <a:prstGeom prst="roundRect">
            <a:avLst>
              <a:gd name="adj" fmla="val 2951"/>
            </a:avLst>
          </a:prstGeom>
          <a:solidFill>
            <a:srgbClr val="F9FCFB"/>
          </a:solidFill>
          <a:ln w="4763">
            <a:solidFill>
              <a:srgbClr val="5DADA0"/>
            </a:solidFill>
            <a:prstDash val="solid"/>
          </a:ln>
          <a:effectLst>
            <a:outerShdw blurRad="72009" dist="25718" dir="5400000" algn="bl" rotWithShape="0">
              <a:srgbClr val="0A3D2E">
                <a:alpha val="18000"/>
              </a:srgbClr>
            </a:outerShdw>
          </a:effectLst>
        </p:spPr>
      </p:sp>
      <p:sp>
        <p:nvSpPr>
          <p:cNvPr id="84" name="Shape 81"/>
          <p:cNvSpPr/>
          <p:nvPr/>
        </p:nvSpPr>
        <p:spPr>
          <a:xfrm>
            <a:off x="4627959" y="2708449"/>
            <a:ext cx="2062162" cy="223838"/>
          </a:xfrm>
          <a:prstGeom prst="rect">
            <a:avLst/>
          </a:prstGeom>
          <a:gradFill>
            <a:gsLst>
              <a:gs pos="0">
                <a:srgbClr val="17A86B"/>
              </a:gs>
              <a:gs pos="100000">
                <a:srgbClr val="0E7A57"/>
              </a:gs>
            </a:gsLst>
            <a:lin ang="0" scaled="0"/>
          </a:gradFill>
          <a:ln/>
        </p:spPr>
      </p:sp>
      <p:sp>
        <p:nvSpPr>
          <p:cNvPr id="85" name="Text 82"/>
          <p:cNvSpPr/>
          <p:nvPr/>
        </p:nvSpPr>
        <p:spPr>
          <a:xfrm>
            <a:off x="4718447" y="2753097"/>
            <a:ext cx="115832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810" b="1" kern="0" spc="-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Common Variants</a:t>
            </a:r>
            <a:endParaRPr lang="en-US" sz="810" dirty="0"/>
          </a:p>
        </p:txBody>
      </p:sp>
      <p:sp>
        <p:nvSpPr>
          <p:cNvPr id="86" name="Text 83"/>
          <p:cNvSpPr/>
          <p:nvPr/>
        </p:nvSpPr>
        <p:spPr>
          <a:xfrm>
            <a:off x="4718447" y="2974628"/>
            <a:ext cx="2305735" cy="19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786"/>
              </a:lnSpc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· Special first move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opening turn changes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parity; recount the deciding frequency after it.</a:t>
            </a:r>
            <a:endParaRPr lang="en-US" sz="600" dirty="0"/>
          </a:p>
        </p:txBody>
      </p:sp>
      <p:sp>
        <p:nvSpPr>
          <p:cNvPr id="87" name="Text 84"/>
          <p:cNvSpPr/>
          <p:nvPr/>
        </p:nvSpPr>
        <p:spPr>
          <a:xfrm>
            <a:off x="4718447" y="3202484"/>
            <a:ext cx="2328855" cy="19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786"/>
              </a:lnSpc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· Asymmetric gaps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weight the values before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counting; the gaps shift which element is unpaired.</a:t>
            </a:r>
            <a:endParaRPr lang="en-US" sz="600" dirty="0"/>
          </a:p>
        </p:txBody>
      </p:sp>
      <p:sp>
        <p:nvSpPr>
          <p:cNvPr id="88" name="Text 85"/>
          <p:cNvSpPr/>
          <p:nvPr/>
        </p:nvSpPr>
        <p:spPr>
          <a:xfrm>
            <a:off x="4718447" y="3430339"/>
            <a:ext cx="2257365" cy="19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786"/>
              </a:lnSpc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 · Multiple win conditions</a:t>
            </a: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evaluate parity per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condition, then combine the verdicts.</a:t>
            </a:r>
            <a:endParaRPr lang="en-US" sz="600" dirty="0"/>
          </a:p>
        </p:txBody>
      </p:sp>
      <p:sp>
        <p:nvSpPr>
          <p:cNvPr id="89" name="Shape 86"/>
          <p:cNvSpPr/>
          <p:nvPr/>
        </p:nvSpPr>
        <p:spPr>
          <a:xfrm>
            <a:off x="6797204" y="906252"/>
            <a:ext cx="2071688" cy="1490663"/>
          </a:xfrm>
          <a:prstGeom prst="roundRect">
            <a:avLst>
              <a:gd name="adj" fmla="val 3450"/>
            </a:avLst>
          </a:prstGeom>
          <a:solidFill>
            <a:srgbClr val="F9FCFB"/>
          </a:solidFill>
          <a:ln w="4763">
            <a:solidFill>
              <a:srgbClr val="5DADA0"/>
            </a:solidFill>
            <a:prstDash val="solid"/>
          </a:ln>
          <a:effectLst>
            <a:outerShdw blurRad="72009" dist="25718" dir="5400000" algn="bl" rotWithShape="0">
              <a:srgbClr val="0A3D2E">
                <a:alpha val="18000"/>
              </a:srgbClr>
            </a:outerShdw>
          </a:effectLst>
        </p:spPr>
      </p:sp>
      <p:sp>
        <p:nvSpPr>
          <p:cNvPr id="90" name="Shape 87"/>
          <p:cNvSpPr/>
          <p:nvPr/>
        </p:nvSpPr>
        <p:spPr>
          <a:xfrm>
            <a:off x="6801966" y="910754"/>
            <a:ext cx="2062162" cy="223838"/>
          </a:xfrm>
          <a:prstGeom prst="rect">
            <a:avLst/>
          </a:prstGeom>
          <a:gradFill>
            <a:gsLst>
              <a:gs pos="0">
                <a:srgbClr val="17A86B"/>
              </a:gs>
              <a:gs pos="100000">
                <a:srgbClr val="0E7A57"/>
              </a:gs>
            </a:gsLst>
            <a:lin ang="0" scaled="0"/>
          </a:gradFill>
          <a:ln/>
        </p:spPr>
      </p:sp>
      <p:sp>
        <p:nvSpPr>
          <p:cNvPr id="91" name="Text 88"/>
          <p:cNvSpPr/>
          <p:nvPr/>
        </p:nvSpPr>
        <p:spPr>
          <a:xfrm>
            <a:off x="6892454" y="955402"/>
            <a:ext cx="13876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810" b="1" kern="0" spc="-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Trump Card</a:t>
            </a:r>
            <a:endParaRPr lang="en-US" sz="810" dirty="0"/>
          </a:p>
        </p:txBody>
      </p:sp>
      <p:sp>
        <p:nvSpPr>
          <p:cNvPr id="105" name="Shape 102"/>
          <p:cNvSpPr/>
          <p:nvPr/>
        </p:nvSpPr>
        <p:spPr>
          <a:xfrm>
            <a:off x="6797204" y="2454399"/>
            <a:ext cx="2071688" cy="1071777"/>
          </a:xfrm>
          <a:prstGeom prst="roundRect">
            <a:avLst>
              <a:gd name="adj" fmla="val 5320"/>
            </a:avLst>
          </a:prstGeom>
          <a:solidFill>
            <a:srgbClr val="F9FCFB"/>
          </a:solidFill>
          <a:ln w="4763">
            <a:solidFill>
              <a:srgbClr val="5DADA0"/>
            </a:solidFill>
            <a:prstDash val="solid"/>
          </a:ln>
          <a:effectLst>
            <a:outerShdw blurRad="72009" dist="25718" dir="5400000" algn="bl" rotWithShape="0">
              <a:srgbClr val="0A3D2E">
                <a:alpha val="18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6801966" y="2460129"/>
            <a:ext cx="2062162" cy="223838"/>
          </a:xfrm>
          <a:prstGeom prst="rect">
            <a:avLst/>
          </a:prstGeom>
          <a:gradFill>
            <a:gsLst>
              <a:gs pos="0">
                <a:srgbClr val="17A86B"/>
              </a:gs>
              <a:gs pos="100000">
                <a:srgbClr val="0E7A57"/>
              </a:gs>
            </a:gsLst>
            <a:lin ang="0" scaled="0"/>
          </a:gradFill>
          <a:ln/>
        </p:spPr>
      </p:sp>
      <p:sp>
        <p:nvSpPr>
          <p:cNvPr id="107" name="Text 104"/>
          <p:cNvSpPr/>
          <p:nvPr/>
        </p:nvSpPr>
        <p:spPr>
          <a:xfrm>
            <a:off x="6892454" y="2504777"/>
            <a:ext cx="1052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810" b="1" kern="0" spc="-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Practice Ladder</a:t>
            </a:r>
            <a:endParaRPr lang="en-US" sz="810" dirty="0"/>
          </a:p>
        </p:txBody>
      </p:sp>
      <p:sp>
        <p:nvSpPr>
          <p:cNvPr id="108" name="Text 105"/>
          <p:cNvSpPr/>
          <p:nvPr/>
        </p:nvSpPr>
        <p:spPr>
          <a:xfrm>
            <a:off x="6892454" y="2726308"/>
            <a:ext cx="3866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Level 1</a:t>
            </a:r>
            <a:endParaRPr lang="en-US" sz="600" dirty="0"/>
          </a:p>
        </p:txBody>
      </p:sp>
      <p:sp>
        <p:nvSpPr>
          <p:cNvPr id="109" name="Text 106"/>
          <p:cNvSpPr/>
          <p:nvPr/>
        </p:nvSpPr>
        <p:spPr>
          <a:xfrm>
            <a:off x="7340426" y="2726308"/>
            <a:ext cx="12989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Single-pile parity (Nim-lite).</a:t>
            </a:r>
            <a:endParaRPr lang="en-US" sz="600" dirty="0"/>
          </a:p>
        </p:txBody>
      </p:sp>
      <p:sp>
        <p:nvSpPr>
          <p:cNvPr id="110" name="Text 107"/>
          <p:cNvSpPr/>
          <p:nvPr/>
        </p:nvSpPr>
        <p:spPr>
          <a:xfrm>
            <a:off x="6892454" y="2854375"/>
            <a:ext cx="3866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Level 2</a:t>
            </a:r>
            <a:endParaRPr lang="en-US" sz="600" dirty="0"/>
          </a:p>
        </p:txBody>
      </p:sp>
      <p:sp>
        <p:nvSpPr>
          <p:cNvPr id="111" name="Text 108"/>
          <p:cNvSpPr/>
          <p:nvPr/>
        </p:nvSpPr>
        <p:spPr>
          <a:xfrm>
            <a:off x="7340426" y="2854375"/>
            <a:ext cx="190591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Equal-group removal — spot the unpaired</a:t>
            </a:r>
            <a:endParaRPr lang="en-US" sz="600" dirty="0"/>
          </a:p>
        </p:txBody>
      </p:sp>
      <p:sp>
        <p:nvSpPr>
          <p:cNvPr id="112" name="Text 109"/>
          <p:cNvSpPr/>
          <p:nvPr/>
        </p:nvSpPr>
        <p:spPr>
          <a:xfrm>
            <a:off x="7340426" y="2954164"/>
            <a:ext cx="34146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group.</a:t>
            </a:r>
            <a:endParaRPr lang="en-US" sz="600" dirty="0"/>
          </a:p>
        </p:txBody>
      </p:sp>
      <p:sp>
        <p:nvSpPr>
          <p:cNvPr id="113" name="Text 110"/>
          <p:cNvSpPr/>
          <p:nvPr/>
        </p:nvSpPr>
        <p:spPr>
          <a:xfrm>
            <a:off x="6892454" y="3082230"/>
            <a:ext cx="3866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Level 3</a:t>
            </a:r>
            <a:endParaRPr lang="en-US" sz="600" dirty="0"/>
          </a:p>
        </p:txBody>
      </p:sp>
      <p:sp>
        <p:nvSpPr>
          <p:cNvPr id="114" name="Text 111"/>
          <p:cNvSpPr/>
          <p:nvPr/>
        </p:nvSpPr>
        <p:spPr>
          <a:xfrm>
            <a:off x="7340426" y="3082230"/>
            <a:ext cx="18237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Sorted greedy with one transition point.</a:t>
            </a:r>
            <a:endParaRPr lang="en-US" sz="600" dirty="0"/>
          </a:p>
        </p:txBody>
      </p:sp>
      <p:sp>
        <p:nvSpPr>
          <p:cNvPr id="115" name="Text 112"/>
          <p:cNvSpPr/>
          <p:nvPr/>
        </p:nvSpPr>
        <p:spPr>
          <a:xfrm>
            <a:off x="6892454" y="3210297"/>
            <a:ext cx="3866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Level 4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7340426" y="3210297"/>
            <a:ext cx="162769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Weighted and asymmetric variants.</a:t>
            </a:r>
            <a:endParaRPr lang="en-US" sz="600" dirty="0"/>
          </a:p>
        </p:txBody>
      </p:sp>
      <p:sp>
        <p:nvSpPr>
          <p:cNvPr id="117" name="Text 114"/>
          <p:cNvSpPr/>
          <p:nvPr/>
        </p:nvSpPr>
        <p:spPr>
          <a:xfrm>
            <a:off x="6892454" y="3338364"/>
            <a:ext cx="3866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b="1" dirty="0">
                <a:solidFill>
                  <a:srgbClr val="0A8C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Level 5</a:t>
            </a:r>
            <a:endParaRPr lang="en-US" sz="600" dirty="0"/>
          </a:p>
        </p:txBody>
      </p:sp>
      <p:sp>
        <p:nvSpPr>
          <p:cNvPr id="118" name="Text 115"/>
          <p:cNvSpPr/>
          <p:nvPr/>
        </p:nvSpPr>
        <p:spPr>
          <a:xfrm>
            <a:off x="7340426" y="3338364"/>
            <a:ext cx="178750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600" dirty="0">
                <a:solidFill>
                  <a:srgbClr val="0F2A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Combined conditions and short proofs.</a:t>
            </a:r>
            <a:endParaRPr lang="en-US" sz="600" dirty="0"/>
          </a:p>
        </p:txBody>
      </p:sp>
      <p:sp>
        <p:nvSpPr>
          <p:cNvPr id="119" name="Shape 116"/>
          <p:cNvSpPr/>
          <p:nvPr/>
        </p:nvSpPr>
        <p:spPr>
          <a:xfrm>
            <a:off x="6797204" y="3585344"/>
            <a:ext cx="2071688" cy="858887"/>
          </a:xfrm>
          <a:prstGeom prst="roundRect">
            <a:avLst>
              <a:gd name="adj" fmla="val 5320"/>
            </a:avLst>
          </a:prstGeom>
          <a:solidFill>
            <a:srgbClr val="0A8C6B"/>
          </a:solidFill>
          <a:ln w="4763">
            <a:solidFill>
              <a:srgbClr val="0A8C6B"/>
            </a:solidFill>
            <a:prstDash val="solid"/>
          </a:ln>
          <a:effectLst>
            <a:outerShdw blurRad="72009" dist="25718" dir="5400000" algn="bl" rotWithShape="0">
              <a:srgbClr val="0A3D2E">
                <a:alpha val="18000"/>
              </a:srgbClr>
            </a:outerShdw>
          </a:effectLst>
        </p:spPr>
      </p:sp>
      <p:sp>
        <p:nvSpPr>
          <p:cNvPr id="120" name="Text 117"/>
          <p:cNvSpPr/>
          <p:nvPr/>
        </p:nvSpPr>
        <p:spPr>
          <a:xfrm>
            <a:off x="6892454" y="3719736"/>
            <a:ext cx="110153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buNone/>
            </a:pPr>
            <a:r>
              <a:rPr lang="en-US" sz="940" b="1" dirty="0">
                <a:solidFill>
                  <a:srgbClr val="FFD3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Takeaway</a:t>
            </a:r>
            <a:endParaRPr lang="en-US" sz="940" dirty="0"/>
          </a:p>
        </p:txBody>
      </p:sp>
      <p:sp>
        <p:nvSpPr>
          <p:cNvPr id="121" name="Text 118"/>
          <p:cNvSpPr/>
          <p:nvPr/>
        </p:nvSpPr>
        <p:spPr>
          <a:xfrm>
            <a:off x="6892454" y="3897734"/>
            <a:ext cx="2432655" cy="299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Don't simulate every branch. Count, check parity, and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reason about who is forced to move — the winner is</a:t>
            </a:r>
            <a:endParaRPr lang="en-US" sz="600" dirty="0"/>
          </a:p>
          <a:p>
            <a:pPr marL="0" indent="0" algn="just">
              <a:lnSpc>
                <a:spcPts val="786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usually decided before the first stone is taken.</a:t>
            </a:r>
            <a:endParaRPr lang="en-US" sz="600" dirty="0"/>
          </a:p>
        </p:txBody>
      </p:sp>
      <p:sp>
        <p:nvSpPr>
          <p:cNvPr id="122" name="Shape 119"/>
          <p:cNvSpPr/>
          <p:nvPr/>
        </p:nvSpPr>
        <p:spPr>
          <a:xfrm>
            <a:off x="0" y="4525268"/>
            <a:ext cx="9144000" cy="619125"/>
          </a:xfrm>
          <a:prstGeom prst="rect">
            <a:avLst/>
          </a:prstGeom>
          <a:solidFill>
            <a:srgbClr val="0A3D2E"/>
          </a:solidFill>
          <a:ln/>
        </p:spPr>
      </p:sp>
      <p:sp>
        <p:nvSpPr>
          <p:cNvPr id="126" name="Shape 123"/>
          <p:cNvSpPr/>
          <p:nvPr/>
        </p:nvSpPr>
        <p:spPr>
          <a:xfrm>
            <a:off x="83865" y="4565109"/>
            <a:ext cx="487709" cy="461970"/>
          </a:xfrm>
          <a:prstGeom prst="roundRect">
            <a:avLst>
              <a:gd name="adj" fmla="val 10485"/>
            </a:avLst>
          </a:prstGeom>
          <a:solidFill>
            <a:srgbClr val="FFFFFF"/>
          </a:solidFill>
          <a:ln/>
        </p:spPr>
      </p:sp>
      <p:pic>
        <p:nvPicPr>
          <p:cNvPr id="1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21" y="4594595"/>
            <a:ext cx="421302" cy="409754"/>
          </a:xfrm>
          <a:prstGeom prst="rect">
            <a:avLst/>
          </a:prstGeom>
        </p:spPr>
      </p:pic>
      <p:pic>
        <p:nvPicPr>
          <p:cNvPr id="12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4440" y="3255169"/>
            <a:ext cx="1881187" cy="252412"/>
          </a:xfrm>
          <a:prstGeom prst="rect">
            <a:avLst/>
          </a:prstGeom>
        </p:spPr>
      </p:pic>
      <p:pic>
        <p:nvPicPr>
          <p:cNvPr id="129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44440" y="3505274"/>
            <a:ext cx="1881187" cy="309562"/>
          </a:xfrm>
          <a:prstGeom prst="rect">
            <a:avLst/>
          </a:prstGeom>
        </p:spPr>
      </p:pic>
      <p:sp>
        <p:nvSpPr>
          <p:cNvPr id="152" name="Text 120">
            <a:extLst>
              <a:ext uri="{FF2B5EF4-FFF2-40B4-BE49-F238E27FC236}">
                <a16:creationId xmlns:a16="http://schemas.microsoft.com/office/drawing/2014/main" id="{48487A01-9049-4239-B2FA-7AD03D3626A8}"/>
              </a:ext>
            </a:extLst>
          </p:cNvPr>
          <p:cNvSpPr/>
          <p:nvPr/>
        </p:nvSpPr>
        <p:spPr>
          <a:xfrm>
            <a:off x="28576" y="5020904"/>
            <a:ext cx="1176940" cy="1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spcAft>
                <a:spcPts val="122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Scan to read the full article</a:t>
            </a:r>
            <a:endParaRPr lang="en-US" sz="800" dirty="0"/>
          </a:p>
        </p:txBody>
      </p:sp>
      <p:sp>
        <p:nvSpPr>
          <p:cNvPr id="153" name="Text 120">
            <a:extLst>
              <a:ext uri="{FF2B5EF4-FFF2-40B4-BE49-F238E27FC236}">
                <a16:creationId xmlns:a16="http://schemas.microsoft.com/office/drawing/2014/main" id="{363CC269-7B2C-476A-A959-DC754EE29602}"/>
              </a:ext>
            </a:extLst>
          </p:cNvPr>
          <p:cNvSpPr/>
          <p:nvPr/>
        </p:nvSpPr>
        <p:spPr>
          <a:xfrm>
            <a:off x="6784316" y="4796693"/>
            <a:ext cx="221006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spcAft>
                <a:spcPts val="122"/>
              </a:spcAft>
              <a:buNone/>
            </a:pPr>
            <a:r>
              <a:rPr lang="en-US" sz="1370" b="1" dirty="0" err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Mojahidul</a:t>
            </a:r>
            <a:r>
              <a:rPr lang="en-US" sz="137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1370" b="1" dirty="0" err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Alam</a:t>
            </a:r>
            <a:br>
              <a:rPr lang="en-US" sz="137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</a:b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mojahidul.alam21@gmail.com</a:t>
            </a:r>
            <a:endParaRPr lang="en-US" sz="137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8597FD-7303-4E9C-BE21-13B0B2710904}"/>
              </a:ext>
            </a:extLst>
          </p:cNvPr>
          <p:cNvSpPr/>
          <p:nvPr/>
        </p:nvSpPr>
        <p:spPr>
          <a:xfrm>
            <a:off x="6827520" y="1200000"/>
            <a:ext cx="2000480" cy="111517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500" dirty="0"/>
              <a:t>Sort groups by value descending.</a:t>
            </a:r>
          </a:p>
          <a:p>
            <a:r>
              <a:rPr lang="en-US" sz="500" dirty="0"/>
              <a:t>For each group i:</a:t>
            </a:r>
          </a:p>
          <a:p>
            <a:r>
              <a:rPr lang="en-US" sz="500" dirty="0"/>
              <a:t>    If </a:t>
            </a:r>
            <a:r>
              <a:rPr lang="en-US" sz="500" dirty="0" err="1"/>
              <a:t>freq</a:t>
            </a:r>
            <a:r>
              <a:rPr lang="en-US" sz="500" dirty="0"/>
              <a:t>[</a:t>
            </a:r>
            <a:r>
              <a:rPr lang="en-US" sz="500" dirty="0" err="1"/>
              <a:t>i</a:t>
            </a:r>
            <a:r>
              <a:rPr lang="en-US" sz="500" dirty="0"/>
              <a:t>] is even:</a:t>
            </a:r>
          </a:p>
          <a:p>
            <a:r>
              <a:rPr lang="en-US" sz="500" dirty="0"/>
              <a:t>        → Group is neutral. Continue to group i+1.</a:t>
            </a:r>
          </a:p>
          <a:p>
            <a:r>
              <a:rPr lang="en-US" sz="500" dirty="0"/>
              <a:t>    If </a:t>
            </a:r>
            <a:r>
              <a:rPr lang="en-US" sz="500" dirty="0" err="1"/>
              <a:t>freq</a:t>
            </a:r>
            <a:r>
              <a:rPr lang="en-US" sz="500" dirty="0"/>
              <a:t>[</a:t>
            </a:r>
            <a:r>
              <a:rPr lang="en-US" sz="500" dirty="0" err="1"/>
              <a:t>i</a:t>
            </a:r>
            <a:r>
              <a:rPr lang="en-US" sz="500" dirty="0"/>
              <a:t>] is odd:</a:t>
            </a:r>
          </a:p>
          <a:p>
            <a:r>
              <a:rPr lang="en-US" sz="500" dirty="0"/>
              <a:t>        If i+1 exists AND value[</a:t>
            </a:r>
            <a:r>
              <a:rPr lang="en-US" sz="500" dirty="0" err="1"/>
              <a:t>i</a:t>
            </a:r>
            <a:r>
              <a:rPr lang="en-US" sz="500" dirty="0"/>
              <a:t>] - value[i+1] &lt;= k:</a:t>
            </a:r>
          </a:p>
          <a:p>
            <a:r>
              <a:rPr lang="en-US" sz="500" dirty="0"/>
              <a:t>            → Initiative passes to group i+1. Continue.</a:t>
            </a:r>
          </a:p>
          <a:p>
            <a:r>
              <a:rPr lang="en-US" sz="500" dirty="0"/>
              <a:t>        Else:</a:t>
            </a:r>
          </a:p>
          <a:p>
            <a:r>
              <a:rPr lang="en-US" sz="500" dirty="0"/>
              <a:t>            → This group decides the game. </a:t>
            </a:r>
          </a:p>
          <a:p>
            <a:r>
              <a:rPr lang="en-US" sz="500" dirty="0"/>
              <a:t>              The player who is "to move" when entering this group</a:t>
            </a:r>
          </a:p>
          <a:p>
            <a:r>
              <a:rPr lang="en-US" sz="500" dirty="0"/>
              <a:t>              takes the last element and wins.</a:t>
            </a:r>
          </a:p>
          <a:p>
            <a:r>
              <a:rPr lang="en-US" sz="500" dirty="0"/>
              <a:t>              Answer depends on who that 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642</Words>
  <Application>Microsoft Office PowerPoint</Application>
  <PresentationFormat>On-screen Show (16:9)</PresentationFormat>
  <Paragraphs>112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IBM Plex Sans</vt:lpstr>
      <vt:lpstr>Mona Sans VF</vt:lpstr>
      <vt:lpstr>Space Grotesk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MOJAHIDUL ALAM</cp:lastModifiedBy>
  <cp:revision>10</cp:revision>
  <dcterms:created xsi:type="dcterms:W3CDTF">2026-06-17T17:37:52Z</dcterms:created>
  <dcterms:modified xsi:type="dcterms:W3CDTF">2026-06-18T04:37:09Z</dcterms:modified>
</cp:coreProperties>
</file>